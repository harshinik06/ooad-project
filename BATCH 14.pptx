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256" r:id="rId2"/>
    <p:sldId id="267" r:id="rId3"/>
    <p:sldId id="269" r:id="rId4"/>
    <p:sldId id="268" r:id="rId5"/>
    <p:sldId id="280" r:id="rId6"/>
    <p:sldId id="270" r:id="rId7"/>
    <p:sldId id="271" r:id="rId8"/>
    <p:sldId id="285" r:id="rId9"/>
    <p:sldId id="303" r:id="rId10"/>
    <p:sldId id="321" r:id="rId11"/>
    <p:sldId id="297" r:id="rId12"/>
    <p:sldId id="309" r:id="rId13"/>
    <p:sldId id="315" r:id="rId14"/>
    <p:sldId id="286" r:id="rId15"/>
    <p:sldId id="287" r:id="rId16"/>
    <p:sldId id="304" r:id="rId17"/>
    <p:sldId id="322" r:id="rId18"/>
    <p:sldId id="298" r:id="rId19"/>
    <p:sldId id="310" r:id="rId20"/>
    <p:sldId id="316" r:id="rId21"/>
    <p:sldId id="288" r:id="rId22"/>
    <p:sldId id="291" r:id="rId23"/>
    <p:sldId id="305" r:id="rId24"/>
    <p:sldId id="323" r:id="rId25"/>
    <p:sldId id="299" r:id="rId26"/>
    <p:sldId id="311" r:id="rId27"/>
    <p:sldId id="317" r:id="rId28"/>
    <p:sldId id="290" r:id="rId29"/>
    <p:sldId id="296" r:id="rId30"/>
    <p:sldId id="306" r:id="rId31"/>
    <p:sldId id="324" r:id="rId32"/>
    <p:sldId id="300" r:id="rId33"/>
    <p:sldId id="312" r:id="rId34"/>
    <p:sldId id="318" r:id="rId35"/>
    <p:sldId id="292" r:id="rId36"/>
    <p:sldId id="289" r:id="rId37"/>
    <p:sldId id="307" r:id="rId38"/>
    <p:sldId id="325" r:id="rId39"/>
    <p:sldId id="301" r:id="rId40"/>
    <p:sldId id="313" r:id="rId41"/>
    <p:sldId id="319" r:id="rId42"/>
    <p:sldId id="293" r:id="rId43"/>
    <p:sldId id="294" r:id="rId44"/>
    <p:sldId id="308" r:id="rId45"/>
    <p:sldId id="326" r:id="rId46"/>
    <p:sldId id="302" r:id="rId47"/>
    <p:sldId id="314" r:id="rId48"/>
    <p:sldId id="320" r:id="rId49"/>
    <p:sldId id="295" r:id="rId50"/>
    <p:sldId id="264" r:id="rId5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CC0066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92559" autoAdjust="0"/>
  </p:normalViewPr>
  <p:slideViewPr>
    <p:cSldViewPr showGuides="1">
      <p:cViewPr>
        <p:scale>
          <a:sx n="75" d="100"/>
          <a:sy n="75" d="100"/>
        </p:scale>
        <p:origin x="1051" y="-34"/>
      </p:cViewPr>
      <p:guideLst>
        <p:guide orient="horz" pos="2928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A9864-38E1-4409-A137-0677D32024B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90FC2-BF76-40DA-904A-D6F1B8489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10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290FC2-BF76-40DA-904A-D6F1B84891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44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1DC07-06EE-0696-11A4-CEFCDA8AA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39A9B-0EAD-DECD-9FAB-8D5946C0C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B2713-12C6-D002-1A2D-3660E40A8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E9210-8EF7-937F-7120-B1949802B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290FC2-BF76-40DA-904A-D6F1B84891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09428" y="637457"/>
            <a:ext cx="2373142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1225" y="302571"/>
            <a:ext cx="9037905" cy="1224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6915" y="1507482"/>
            <a:ext cx="10191750" cy="283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201" y="2258293"/>
            <a:ext cx="11715748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en-US" sz="5000" dirty="0">
                <a:latin typeface="Calibri" panose="020F0502020204030204"/>
                <a:cs typeface="Calibri" panose="020F0502020204030204"/>
              </a:rPr>
              <a:t> Smart Healthcare Monitoring System using IoT and UML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24600" y="4506996"/>
            <a:ext cx="6213475" cy="1941511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lang="en-US" altLang="en-US" sz="2400" spc="-20" dirty="0">
                <a:latin typeface="Calibri" panose="020F0502020204030204"/>
                <a:cs typeface="Calibri" panose="020F0502020204030204"/>
              </a:rPr>
              <a:t>     PRESENTED BY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lang="en-US" altLang="en-US" sz="2400" spc="-20" dirty="0">
                <a:latin typeface=" TIMES NEW ROMAN"/>
                <a:cs typeface="Calibri" panose="020F0502020204030204"/>
              </a:rPr>
              <a:t>GANAGHASHREE K(2303811710422043)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lang="en-US" altLang="en-US" sz="2400" spc="-20" dirty="0">
                <a:latin typeface=" TIMES NEW ROMAN"/>
                <a:cs typeface="Calibri" panose="020F0502020204030204"/>
              </a:rPr>
              <a:t>HARIPRIYA E (2303811710422050)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lang="en-US" altLang="en-US" sz="2400" spc="-20" dirty="0">
                <a:latin typeface=" TIMES NEW ROMAN"/>
                <a:cs typeface="Calibri" panose="020F0502020204030204"/>
              </a:rPr>
              <a:t>HARINI S(2303811710422055)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lang="en-US" altLang="en-US" sz="2400" spc="-20" dirty="0">
                <a:latin typeface=" TIMES NEW ROMAN"/>
                <a:cs typeface="Calibri" panose="020F0502020204030204"/>
              </a:rPr>
              <a:t>HARSHINI K(2303811710422061)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0066"/>
                </a:solidFill>
              </a:rPr>
              <a:t>K.RAMAKRISHNAN</a:t>
            </a:r>
            <a:r>
              <a:rPr spc="-105" dirty="0">
                <a:solidFill>
                  <a:srgbClr val="FF0066"/>
                </a:solidFill>
              </a:rPr>
              <a:t> </a:t>
            </a:r>
            <a:r>
              <a:rPr dirty="0">
                <a:solidFill>
                  <a:srgbClr val="FF0066"/>
                </a:solidFill>
              </a:rPr>
              <a:t>COLLEGE</a:t>
            </a:r>
            <a:r>
              <a:rPr spc="-100" dirty="0">
                <a:solidFill>
                  <a:srgbClr val="FF0066"/>
                </a:solidFill>
              </a:rPr>
              <a:t> </a:t>
            </a:r>
            <a:r>
              <a:rPr dirty="0">
                <a:solidFill>
                  <a:srgbClr val="FF0066"/>
                </a:solidFill>
              </a:rPr>
              <a:t>OF</a:t>
            </a:r>
            <a:r>
              <a:rPr spc="-100" dirty="0">
                <a:solidFill>
                  <a:srgbClr val="FF0066"/>
                </a:solidFill>
              </a:rPr>
              <a:t> </a:t>
            </a:r>
            <a:r>
              <a:rPr spc="-10" dirty="0">
                <a:solidFill>
                  <a:srgbClr val="FF0066"/>
                </a:solidFill>
              </a:rPr>
              <a:t>TECHNOLOGY </a:t>
            </a:r>
            <a:r>
              <a:rPr spc="-25" dirty="0">
                <a:solidFill>
                  <a:srgbClr val="FF0066"/>
                </a:solidFill>
              </a:rPr>
              <a:t>(AUTONOMOUS),</a:t>
            </a:r>
            <a:r>
              <a:rPr spc="-110" dirty="0">
                <a:solidFill>
                  <a:srgbClr val="FF0066"/>
                </a:solidFill>
              </a:rPr>
              <a:t> </a:t>
            </a:r>
            <a:r>
              <a:rPr spc="-10" dirty="0">
                <a:solidFill>
                  <a:srgbClr val="FF0066"/>
                </a:solidFill>
              </a:rPr>
              <a:t>TRICHY.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90EB66-2559-4095-133D-CC3AA79D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7B3BB21-E4FD-7E87-DF7F-A2EB529E03DD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469EF84-5E6C-8E9D-19C9-0092BBF7F78E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93C4F28-2320-2402-AE6F-9E65B0AB5F1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6523518-E8A4-8A15-F2CD-D068BC1AB3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583997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solidFill>
                  <a:srgbClr val="FF0066"/>
                </a:solidFill>
              </a:rPr>
              <a:t>INTRODUCTION </a:t>
            </a:r>
            <a:endParaRPr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3A35F655-F2BC-9920-55E4-F930095D333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5ECCC812-2C68-A3A9-9FBA-F259135354E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95300" y="1523016"/>
            <a:ext cx="11201399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 TIMES NEW ROMAN"/>
              </a:rPr>
              <a:t>Healthcare is shifting from traditional manual monitoring to smart IoT-enabled systems for real-time patient tracking.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 TIMES NEW ROMAN"/>
              </a:rPr>
              <a:t>IoT devices and sensors collect vital data like heart rate, temperature, and oxygen level for continuous monitoring.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 TIMES NEW ROMAN"/>
              </a:rPr>
              <a:t>The system enables remote healthcare, reducing hospital visits and ensuring timely medical interventions.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 TIMES NEW ROMAN"/>
              </a:rPr>
              <a:t>UML modeling (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 TIMES NEW ROMAN"/>
              </a:rPr>
              <a:t>usecase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 TIMES NEW ROMAN"/>
              </a:rPr>
              <a:t>, class diagrams) provides a structured design for building a scalable and reliable solution.</a:t>
            </a:r>
          </a:p>
        </p:txBody>
      </p:sp>
    </p:spTree>
    <p:extLst>
      <p:ext uri="{BB962C8B-B14F-4D97-AF65-F5344CB8AC3E}">
        <p14:creationId xmlns:p14="http://schemas.microsoft.com/office/powerpoint/2010/main" val="3339640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7FE8E3-4525-215F-FCF4-5CF1C7FC2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9B28CA7-A5C3-6205-7DBE-2879FFF8393D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E1497C6-296B-A722-0E20-8BAABEB575E0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4F012CD-139E-794F-1A11-EFEDF6E9C62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D8B4D19-BBA1-4635-77EB-D4ABEE211C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1065" y="527887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solidFill>
                  <a:srgbClr val="FF0066"/>
                </a:solidFill>
              </a:rPr>
              <a:t> EXISTING SYSTEM</a:t>
            </a: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1A5223D-F9FD-D2C7-422A-F3FA60AAAE7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024720-6D05-51A6-25C1-D074656C11C5}"/>
              </a:ext>
            </a:extLst>
          </p:cNvPr>
          <p:cNvSpPr txBox="1"/>
          <p:nvPr/>
        </p:nvSpPr>
        <p:spPr>
          <a:xfrm>
            <a:off x="1447800" y="1762476"/>
            <a:ext cx="101377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6FB068-0E63-6A1A-214F-70CEB15D4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094925"/>
            <a:ext cx="97075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 TIMES NEW ROMAN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 TIMES NEW ROMAN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A1498F8-602C-1419-CDD0-0E6B262559F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57224" y="1359845"/>
            <a:ext cx="10928350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 TIMES NEW ROMAN"/>
              </a:rPr>
              <a:t> </a:t>
            </a:r>
            <a:r>
              <a:rPr lang="en-US" sz="2400" dirty="0">
                <a:latin typeface=" TIMES NEW ROMAN"/>
              </a:rPr>
              <a:t>Traditional healthcare systems rely on manual check-ups where patients visit hospitals for routine monitoring.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 TIMES NEW ROMAN"/>
              </a:rPr>
              <a:t>Health parameters are often recorded periodically, which may lead to delayed diagnosis of critical conditions.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 TIMES NEW ROMAN"/>
              </a:rPr>
              <a:t>Remote monitoring is limited, making it hard for doctors to track patients’ health in real-time.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 TIMES NEW ROMAN"/>
              </a:rPr>
              <a:t>Lack of smart integration results in increased hospital visits, higher costs, and lower efficiency in patient care.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 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4759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42B0C8-A098-A5B5-AF0E-F969BF8D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BC25A75-E1B3-8ABD-EB01-E63F4ACC06CB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B8744FB-D3C4-333A-EB40-B46C81BCD95A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2E9E495-A299-A77F-B616-B3D025DDDE6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D99DF071-1C73-1741-5533-6272AA446D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0494" y="628545"/>
            <a:ext cx="9037905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solidFill>
                  <a:srgbClr val="FF0066"/>
                </a:solidFill>
              </a:rPr>
              <a:t>PROPOSED SYSTEM  </a:t>
            </a:r>
            <a:br>
              <a:rPr lang="en-IN" spc="-10" dirty="0">
                <a:solidFill>
                  <a:srgbClr val="FF0066"/>
                </a:solidFill>
              </a:rPr>
            </a:b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7C5EA226-D77E-02E2-C981-6326ADA7DCF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50E29C6-1B4D-08EC-70A0-96363FB5EB26}"/>
              </a:ext>
            </a:extLst>
          </p:cNvPr>
          <p:cNvSpPr txBox="1"/>
          <p:nvPr/>
        </p:nvSpPr>
        <p:spPr>
          <a:xfrm>
            <a:off x="1314452" y="2294945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 TIMES NEW ROMAN"/>
              </a:rPr>
              <a:t>HOME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7C4130-0C14-10EE-EFCD-71DC0C85F57A}"/>
              </a:ext>
            </a:extLst>
          </p:cNvPr>
          <p:cNvSpPr txBox="1"/>
          <p:nvPr/>
        </p:nvSpPr>
        <p:spPr>
          <a:xfrm>
            <a:off x="5753100" y="241669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REGISTER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F820AB-0937-364A-7189-6974736E9FC4}"/>
              </a:ext>
            </a:extLst>
          </p:cNvPr>
          <p:cNvSpPr txBox="1"/>
          <p:nvPr/>
        </p:nvSpPr>
        <p:spPr>
          <a:xfrm>
            <a:off x="9538496" y="2169610"/>
            <a:ext cx="1904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 TIMES NEW ROMAN"/>
              </a:rPr>
              <a:t>LOGIN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9252DB8-DDB2-B3A4-12BB-1C5948AC4C46}"/>
              </a:ext>
            </a:extLst>
          </p:cNvPr>
          <p:cNvSpPr txBox="1"/>
          <p:nvPr/>
        </p:nvSpPr>
        <p:spPr>
          <a:xfrm>
            <a:off x="9067800" y="4057087"/>
            <a:ext cx="1981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 TIMES NEW ROMAN"/>
              </a:rPr>
              <a:t>DASHBOARD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7B5F202-4D92-285B-1FA0-91490952B3D9}"/>
              </a:ext>
            </a:extLst>
          </p:cNvPr>
          <p:cNvSpPr txBox="1"/>
          <p:nvPr/>
        </p:nvSpPr>
        <p:spPr>
          <a:xfrm>
            <a:off x="2472877" y="4016001"/>
            <a:ext cx="2451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 TIMES NEW ROMAN"/>
              </a:rPr>
              <a:t>TRANSFER THE MONEY TO ANOTHER ACCOUNT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E34D27D-DB8C-339B-1E12-EABFBC9773C3}"/>
              </a:ext>
            </a:extLst>
          </p:cNvPr>
          <p:cNvSpPr txBox="1"/>
          <p:nvPr/>
        </p:nvSpPr>
        <p:spPr>
          <a:xfrm>
            <a:off x="4267196" y="6389286"/>
            <a:ext cx="3657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UPDATING THE AMOUNT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79681D58-902D-C794-934E-75FAAA98962A}"/>
              </a:ext>
            </a:extLst>
          </p:cNvPr>
          <p:cNvSpPr txBox="1">
            <a:spLocks/>
          </p:cNvSpPr>
          <p:nvPr/>
        </p:nvSpPr>
        <p:spPr>
          <a:xfrm>
            <a:off x="4443729" y="647866"/>
            <a:ext cx="3176270" cy="557844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ea typeface="+mj-ea"/>
                <a:cs typeface="Calibri" panose="020F0502020204030204"/>
              </a:defRPr>
            </a:lvl1pPr>
          </a:lstStyle>
          <a:p>
            <a:pPr marL="12700" algn="ctr">
              <a:spcBef>
                <a:spcPts val="509"/>
              </a:spcBef>
              <a:tabLst>
                <a:tab pos="1821814" algn="l"/>
              </a:tabLst>
            </a:pPr>
            <a:r>
              <a:rPr lang="en-IN" spc="-10" dirty="0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>
              <a:solidFill>
                <a:srgbClr val="FF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7FFC4602-3750-E80D-5FE9-A9C448634554}"/>
              </a:ext>
            </a:extLst>
          </p:cNvPr>
          <p:cNvSpPr txBox="1"/>
          <p:nvPr/>
        </p:nvSpPr>
        <p:spPr>
          <a:xfrm>
            <a:off x="10608680" y="2614400"/>
            <a:ext cx="831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46E704-DEB1-1020-6AD6-40C75B7F2414}"/>
              </a:ext>
            </a:extLst>
          </p:cNvPr>
          <p:cNvSpPr txBox="1"/>
          <p:nvPr/>
        </p:nvSpPr>
        <p:spPr>
          <a:xfrm>
            <a:off x="539340" y="2781300"/>
            <a:ext cx="1715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A04CB1-5F4D-E6C4-9996-AEBE3CE4E14F}"/>
              </a:ext>
            </a:extLst>
          </p:cNvPr>
          <p:cNvSpPr txBox="1"/>
          <p:nvPr/>
        </p:nvSpPr>
        <p:spPr>
          <a:xfrm>
            <a:off x="6997601" y="3027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CD49DD-2A70-8271-1075-761D296A1849}"/>
              </a:ext>
            </a:extLst>
          </p:cNvPr>
          <p:cNvSpPr txBox="1"/>
          <p:nvPr/>
        </p:nvSpPr>
        <p:spPr>
          <a:xfrm>
            <a:off x="573630" y="1414905"/>
            <a:ext cx="1084024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 TIMES NEW ROMAN"/>
              </a:rPr>
              <a:t>The smart healthcare system uses IoT-enabled sensors and devices to continuously monitor patient health data.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 TIMES NEW ROMAN"/>
              </a:rPr>
              <a:t>Vital signs like heart rate, temperature, and oxygen level are sent to a cloud platform for real-time analysis.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 TIMES NEW ROMAN"/>
              </a:rPr>
              <a:t>Doctors and caregivers can access patient data remotely, ensuring timely alerts and medical interventions.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 TIMES NEW ROMAN"/>
              </a:rPr>
              <a:t>Using UML-based design, the system is modeled to be scalable, reliable, and efficient for healthcare services.</a:t>
            </a:r>
          </a:p>
        </p:txBody>
      </p:sp>
    </p:spTree>
    <p:extLst>
      <p:ext uri="{BB962C8B-B14F-4D97-AF65-F5344CB8AC3E}">
        <p14:creationId xmlns:p14="http://schemas.microsoft.com/office/powerpoint/2010/main" val="689623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678FF2-C625-2A93-6499-3D86D2219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4C28F25-4D0D-4AB7-33D8-15D073537709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FE3863D-BBAA-7CB6-73FD-062F8A25FDE2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A77EB12D-2EF8-AEC6-73C5-52BC608142F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E3C19E08-3DA8-3D3D-14FD-7F0332CAA1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solidFill>
                  <a:srgbClr val="FF0066"/>
                </a:solidFill>
              </a:rPr>
              <a:t>PROPOSED SYSTEM  </a:t>
            </a:r>
            <a:br>
              <a:rPr lang="en-IN" spc="-10" dirty="0">
                <a:solidFill>
                  <a:srgbClr val="FF0066"/>
                </a:solidFill>
              </a:rPr>
            </a:b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6E596C1E-3C64-A5A7-4C26-537F5FB029D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DBE52BB-FE74-6A6C-075D-B07A9F73447C}"/>
              </a:ext>
            </a:extLst>
          </p:cNvPr>
          <p:cNvSpPr txBox="1"/>
          <p:nvPr/>
        </p:nvSpPr>
        <p:spPr>
          <a:xfrm>
            <a:off x="1314452" y="2294945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 TIMES NEW ROMAN"/>
              </a:rPr>
              <a:t>HOME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69D90F-70D6-BF38-138E-9BDBCFBB02FB}"/>
              </a:ext>
            </a:extLst>
          </p:cNvPr>
          <p:cNvSpPr txBox="1"/>
          <p:nvPr/>
        </p:nvSpPr>
        <p:spPr>
          <a:xfrm>
            <a:off x="5753100" y="241669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REGISTER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4271559-9016-4996-666A-4FD9ABCED556}"/>
              </a:ext>
            </a:extLst>
          </p:cNvPr>
          <p:cNvSpPr txBox="1"/>
          <p:nvPr/>
        </p:nvSpPr>
        <p:spPr>
          <a:xfrm>
            <a:off x="9538496" y="2169610"/>
            <a:ext cx="1904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 TIMES NEW ROMAN"/>
              </a:rPr>
              <a:t>LOGIN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848D564-27CA-5A04-57A1-FE05112D7405}"/>
              </a:ext>
            </a:extLst>
          </p:cNvPr>
          <p:cNvSpPr txBox="1"/>
          <p:nvPr/>
        </p:nvSpPr>
        <p:spPr>
          <a:xfrm>
            <a:off x="9067800" y="4057087"/>
            <a:ext cx="1981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 TIMES NEW ROMAN"/>
              </a:rPr>
              <a:t>DASHBOARD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3FB387F-2671-9D53-5F51-06C61AA065E9}"/>
              </a:ext>
            </a:extLst>
          </p:cNvPr>
          <p:cNvSpPr txBox="1"/>
          <p:nvPr/>
        </p:nvSpPr>
        <p:spPr>
          <a:xfrm>
            <a:off x="2472877" y="4016001"/>
            <a:ext cx="2451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 TIMES NEW ROMAN"/>
              </a:rPr>
              <a:t>TRANSFER THE MONEY TO ANOTHER ACCOUNT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5B5DC6A-E348-B4AB-914A-019DB9F1067D}"/>
              </a:ext>
            </a:extLst>
          </p:cNvPr>
          <p:cNvSpPr txBox="1"/>
          <p:nvPr/>
        </p:nvSpPr>
        <p:spPr>
          <a:xfrm>
            <a:off x="4267196" y="6389286"/>
            <a:ext cx="3657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UPDATING THE AMOUNT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7A5F2BF8-E925-F125-F7FB-21EDAB100B13}"/>
              </a:ext>
            </a:extLst>
          </p:cNvPr>
          <p:cNvSpPr txBox="1">
            <a:spLocks/>
          </p:cNvSpPr>
          <p:nvPr/>
        </p:nvSpPr>
        <p:spPr>
          <a:xfrm>
            <a:off x="4443729" y="647866"/>
            <a:ext cx="3176270" cy="557844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ea typeface="+mj-ea"/>
                <a:cs typeface="Calibri" panose="020F0502020204030204"/>
              </a:defRPr>
            </a:lvl1pPr>
          </a:lstStyle>
          <a:p>
            <a:pPr marL="12700" algn="ctr">
              <a:spcBef>
                <a:spcPts val="509"/>
              </a:spcBef>
              <a:tabLst>
                <a:tab pos="1821814" algn="l"/>
              </a:tabLst>
            </a:pPr>
            <a:r>
              <a:rPr lang="en-IN" spc="-10" dirty="0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>
              <a:solidFill>
                <a:srgbClr val="FF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251049C6-8A16-C85A-566A-1A92DB5E47B3}"/>
              </a:ext>
            </a:extLst>
          </p:cNvPr>
          <p:cNvSpPr txBox="1"/>
          <p:nvPr/>
        </p:nvSpPr>
        <p:spPr>
          <a:xfrm>
            <a:off x="10608680" y="2614400"/>
            <a:ext cx="831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7A9AFB-F695-260A-D64C-93BD8E703119}"/>
              </a:ext>
            </a:extLst>
          </p:cNvPr>
          <p:cNvSpPr txBox="1"/>
          <p:nvPr/>
        </p:nvSpPr>
        <p:spPr>
          <a:xfrm>
            <a:off x="539340" y="2781300"/>
            <a:ext cx="1715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0C31C2-E5DB-DA51-E3C0-FD6EA9732BC1}"/>
              </a:ext>
            </a:extLst>
          </p:cNvPr>
          <p:cNvSpPr txBox="1"/>
          <p:nvPr/>
        </p:nvSpPr>
        <p:spPr>
          <a:xfrm>
            <a:off x="6997601" y="3027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EF067A-3146-EE71-40D8-699E0BF6EC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832" y="1333875"/>
            <a:ext cx="9037904" cy="492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171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8BB2651-9B01-9599-4FAF-E3EDC6513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289B66D-0A4B-E3ED-ACCB-6364EFB1CFDE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E50E09E-B036-8D3E-D86C-0CF4D9E3DD53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CC38C21B-0F8C-DA76-C1D4-5A0EE2AB3A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7476C13C-4F88-5BE8-D1A9-8C53506337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644304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solidFill>
                  <a:srgbClr val="FF0066"/>
                </a:solidFill>
              </a:rPr>
              <a:t>MODULES OF THE PROJECTS</a:t>
            </a: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0CB2E8D9-FD61-EA52-83FD-F1366013D92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2874A4-6038-7F16-4416-D34AA1618B34}"/>
              </a:ext>
            </a:extLst>
          </p:cNvPr>
          <p:cNvSpPr txBox="1"/>
          <p:nvPr/>
        </p:nvSpPr>
        <p:spPr>
          <a:xfrm>
            <a:off x="1812698" y="1905000"/>
            <a:ext cx="649333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 TIMES NEW ROMAN"/>
                <a:cs typeface="Times New Roman" panose="02020603050405020304" pitchFamily="18" charset="0"/>
              </a:rPr>
              <a:t> </a:t>
            </a:r>
            <a:r>
              <a:rPr lang="en-US" sz="2400" dirty="0"/>
              <a:t>Patient Monitoring Module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 Data Processing Module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 Communication Module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 Alert &amp; Notification Module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 Data Visualization Module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 Prediction and Context Awareness Module </a:t>
            </a:r>
            <a:endParaRPr lang="en-US" sz="2400" dirty="0">
              <a:latin typeface=" TIMES NEW ROMAN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b="1" i="0" dirty="0">
              <a:solidFill>
                <a:srgbClr val="0D0D0D"/>
              </a:solidFill>
              <a:effectLst/>
              <a:latin typeface=" TIMES NEW ROMAN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b="1" i="0" dirty="0">
              <a:solidFill>
                <a:srgbClr val="0D0D0D"/>
              </a:solidFill>
              <a:effectLst/>
              <a:latin typeface=" 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856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41FE93-2155-1BD4-112C-786F343F4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589C54C-1F1E-FC42-5073-F95942670C3B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3DE8C20-6825-7D10-9760-EC13B8F62218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A81540F-D227-4037-DDC6-C441960408B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B397A967-9ADD-A3EA-3126-D35F2D4CCB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IN" spc="-10" dirty="0">
                <a:solidFill>
                  <a:srgbClr val="FF0066"/>
                </a:solidFill>
              </a:rPr>
              <a:t>PATIENT MONITORING MODULE</a:t>
            </a:r>
            <a:br>
              <a:rPr lang="en-IN" spc="-10" dirty="0">
                <a:solidFill>
                  <a:srgbClr val="FF0066"/>
                </a:solidFill>
              </a:rPr>
            </a:br>
            <a:r>
              <a:rPr lang="en-US" dirty="0">
                <a:solidFill>
                  <a:srgbClr val="CC0066"/>
                </a:solidFill>
              </a:rPr>
              <a:t> </a:t>
            </a:r>
            <a:br>
              <a:rPr lang="en-US" dirty="0"/>
            </a:b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54EBA683-4772-D49A-8ABE-7016E69C85A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144B87-59A3-88D0-6A97-18E7314A1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282" y="1530409"/>
            <a:ext cx="8575676" cy="50754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89C6CD-13C8-732E-06D9-2D96691C8EC5}"/>
              </a:ext>
            </a:extLst>
          </p:cNvPr>
          <p:cNvSpPr txBox="1"/>
          <p:nvPr/>
        </p:nvSpPr>
        <p:spPr>
          <a:xfrm>
            <a:off x="1646238" y="1130299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3391011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BD1639-B725-DA59-3ECA-BC12D5DCF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578423-6AF2-981D-BEC0-898064D38F83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27BB448-80E5-4797-B552-FD5972A58CD9}"/>
              </a:ext>
            </a:extLst>
          </p:cNvPr>
          <p:cNvSpPr txBox="1"/>
          <p:nvPr/>
        </p:nvSpPr>
        <p:spPr>
          <a:xfrm>
            <a:off x="7162800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3D63AA3-94FB-C323-1687-F2EABC04851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1C0398A1-4284-4749-F2E8-C74E585CD7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IN" spc="-10" dirty="0">
                <a:solidFill>
                  <a:srgbClr val="FF0066"/>
                </a:solidFill>
              </a:rPr>
              <a:t>PATIENT MONITORING MODULE</a:t>
            </a:r>
            <a:br>
              <a:rPr lang="en-IN" spc="-10" dirty="0">
                <a:solidFill>
                  <a:srgbClr val="FF0066"/>
                </a:solidFill>
              </a:rPr>
            </a:br>
            <a:r>
              <a:rPr lang="en-US" dirty="0">
                <a:solidFill>
                  <a:srgbClr val="CC0066"/>
                </a:solidFill>
              </a:rPr>
              <a:t> </a:t>
            </a:r>
            <a:br>
              <a:rPr lang="en-US" dirty="0"/>
            </a:b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ECB5D170-C0D3-E8BE-1262-731793F1542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297825-129D-2D20-3352-CE139E081E6D}"/>
              </a:ext>
            </a:extLst>
          </p:cNvPr>
          <p:cNvSpPr txBox="1"/>
          <p:nvPr/>
        </p:nvSpPr>
        <p:spPr>
          <a:xfrm>
            <a:off x="1646238" y="10720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CLASS 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B2B800-8B86-A889-ECB4-6D0F6B984C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442" y="1451868"/>
            <a:ext cx="7609840" cy="525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969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01BC697-C2B6-CC0C-60C1-B8199A1F7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D191359-C565-6BF6-93B1-B28ACB92326F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6EFAE21-BEE9-BB9D-E363-327381E5C017}"/>
              </a:ext>
            </a:extLst>
          </p:cNvPr>
          <p:cNvSpPr txBox="1"/>
          <p:nvPr/>
        </p:nvSpPr>
        <p:spPr>
          <a:xfrm>
            <a:off x="7162800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B1D8B26-445A-0855-2D5D-C2893863D9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89708F53-07DB-832E-CBA4-7F96C7761B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IN" spc="-10" dirty="0">
                <a:solidFill>
                  <a:srgbClr val="FF0066"/>
                </a:solidFill>
              </a:rPr>
              <a:t>PATIENT MONITORING MODULE</a:t>
            </a:r>
            <a:br>
              <a:rPr lang="en-IN" spc="-10" dirty="0">
                <a:solidFill>
                  <a:srgbClr val="FF0066"/>
                </a:solidFill>
              </a:rPr>
            </a:br>
            <a:r>
              <a:rPr lang="en-US" dirty="0">
                <a:solidFill>
                  <a:srgbClr val="CC0066"/>
                </a:solidFill>
              </a:rPr>
              <a:t> </a:t>
            </a:r>
            <a:br>
              <a:rPr lang="en-US" dirty="0"/>
            </a:b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D3300E57-3BE1-BFDF-AEE7-5CE18FB74AB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5F0390-026B-EB69-634B-14246A4ABB8A}"/>
              </a:ext>
            </a:extLst>
          </p:cNvPr>
          <p:cNvSpPr txBox="1"/>
          <p:nvPr/>
        </p:nvSpPr>
        <p:spPr>
          <a:xfrm>
            <a:off x="1306470" y="785173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ACTIVITY 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F7340-9B4A-482B-77BF-3FD1DC10B0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0361" y="785173"/>
            <a:ext cx="3253827" cy="592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03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1E0EF8E-C06B-CB99-D339-B66209D1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6DC01D1-90B8-60E8-FDEB-E13CEB08F2AD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DC3F7A6-E42E-75FA-F783-332039F9FF77}"/>
              </a:ext>
            </a:extLst>
          </p:cNvPr>
          <p:cNvSpPr txBox="1"/>
          <p:nvPr/>
        </p:nvSpPr>
        <p:spPr>
          <a:xfrm>
            <a:off x="7162800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E1A00F21-B44B-7F01-C37B-25AA9A3307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2DC02A9E-B3FC-9940-A31F-EB64048C46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IN" spc="-10" dirty="0">
                <a:solidFill>
                  <a:srgbClr val="FF0066"/>
                </a:solidFill>
              </a:rPr>
              <a:t>PATIENT MONITORING MODULE</a:t>
            </a:r>
            <a:br>
              <a:rPr lang="en-IN" spc="-10" dirty="0">
                <a:solidFill>
                  <a:srgbClr val="FF0066"/>
                </a:solidFill>
              </a:rPr>
            </a:br>
            <a:r>
              <a:rPr lang="en-US" dirty="0">
                <a:solidFill>
                  <a:srgbClr val="CC0066"/>
                </a:solidFill>
              </a:rPr>
              <a:t> </a:t>
            </a:r>
            <a:br>
              <a:rPr lang="en-US" dirty="0"/>
            </a:b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AE29DDC9-BC7E-1A42-6CC6-670103F2DB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58F84E-52AE-9E3C-2ECE-3A4438DECEA0}"/>
              </a:ext>
            </a:extLst>
          </p:cNvPr>
          <p:cNvSpPr txBox="1"/>
          <p:nvPr/>
        </p:nvSpPr>
        <p:spPr>
          <a:xfrm>
            <a:off x="1371600" y="802580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SEQUENCE 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A612BB-F0B8-D965-F87D-EE786160B0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483" y="1630308"/>
            <a:ext cx="11596556" cy="416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05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3DA7FB-A16B-ABBD-2EFA-5CCD8AE86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E521CF7-B152-082E-4629-4DEF661D1EEB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4FFEA0C-570F-5553-ADE4-54B80DCB91E1}"/>
              </a:ext>
            </a:extLst>
          </p:cNvPr>
          <p:cNvSpPr txBox="1"/>
          <p:nvPr/>
        </p:nvSpPr>
        <p:spPr>
          <a:xfrm>
            <a:off x="7162800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282CA6DF-B756-A4CD-EEA6-32433CF4ACC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3A856747-5DB7-155C-3398-356F186ACB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IN" spc="-10" dirty="0">
                <a:solidFill>
                  <a:srgbClr val="FF0066"/>
                </a:solidFill>
              </a:rPr>
              <a:t>PATIENT MONITORING MODULE</a:t>
            </a:r>
            <a:br>
              <a:rPr lang="en-IN" spc="-10" dirty="0">
                <a:solidFill>
                  <a:srgbClr val="FF0066"/>
                </a:solidFill>
              </a:rPr>
            </a:br>
            <a:r>
              <a:rPr lang="en-US" dirty="0">
                <a:solidFill>
                  <a:srgbClr val="CC0066"/>
                </a:solidFill>
              </a:rPr>
              <a:t> </a:t>
            </a:r>
            <a:br>
              <a:rPr lang="en-US" dirty="0"/>
            </a:b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2AB27F94-727B-FA62-F534-A8BA6A6B861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4040F7-B894-E038-5B29-D6E62795047D}"/>
              </a:ext>
            </a:extLst>
          </p:cNvPr>
          <p:cNvSpPr txBox="1"/>
          <p:nvPr/>
        </p:nvSpPr>
        <p:spPr>
          <a:xfrm>
            <a:off x="1371600" y="802580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STATE MACHINE 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4E3E7D-7105-6B80-A239-0A02FB20F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3800" y="1202690"/>
            <a:ext cx="5674030" cy="525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58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33A4679-FA6B-A6DA-8B02-64A664E0E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F3E8DA2-AD19-465F-FA05-104BFAC6D7E7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FDEEC98-828E-ED14-FE5E-30E87A818C86}"/>
              </a:ext>
            </a:extLst>
          </p:cNvPr>
          <p:cNvSpPr txBox="1"/>
          <p:nvPr/>
        </p:nvSpPr>
        <p:spPr>
          <a:xfrm>
            <a:off x="7162800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9B90181-55C1-A391-3A5F-7431338382E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2C925A74-1262-172D-B828-B9CB7CDB3A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IN" spc="-10" dirty="0">
                <a:solidFill>
                  <a:srgbClr val="FF0066"/>
                </a:solidFill>
              </a:rPr>
              <a:t>PATIENT MONITORING MODULE</a:t>
            </a:r>
            <a:br>
              <a:rPr lang="en-IN" spc="-10" dirty="0">
                <a:solidFill>
                  <a:srgbClr val="FF0066"/>
                </a:solidFill>
              </a:rPr>
            </a:br>
            <a:r>
              <a:rPr lang="en-US" dirty="0">
                <a:solidFill>
                  <a:srgbClr val="CC0066"/>
                </a:solidFill>
              </a:rPr>
              <a:t> </a:t>
            </a:r>
            <a:br>
              <a:rPr lang="en-US" dirty="0"/>
            </a:b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64AF8C6-150E-2D32-DC38-3F813DD7806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281F4A-AAFC-C2D7-AE52-1BEC470A255B}"/>
              </a:ext>
            </a:extLst>
          </p:cNvPr>
          <p:cNvSpPr txBox="1"/>
          <p:nvPr/>
        </p:nvSpPr>
        <p:spPr>
          <a:xfrm>
            <a:off x="1371600" y="802580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PACKAGE 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017103-6887-0B34-6183-B51E54E6C2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6600" y="1202690"/>
            <a:ext cx="6324600" cy="54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786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BA7EE6-7135-C354-4313-954FB52A5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692B76F-CC32-0BCA-423A-6660154FB523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9F9A572-F6CD-1566-3D17-EB33ED388070}"/>
              </a:ext>
            </a:extLst>
          </p:cNvPr>
          <p:cNvSpPr txBox="1"/>
          <p:nvPr/>
        </p:nvSpPr>
        <p:spPr>
          <a:xfrm>
            <a:off x="7162800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A0AFD89F-5AFD-20E8-456C-2FE964D73E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04264FDB-E823-0424-FE60-4126FA7102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IN" spc="-10" dirty="0">
                <a:solidFill>
                  <a:srgbClr val="FF0066"/>
                </a:solidFill>
              </a:rPr>
              <a:t>PATIENT MONITORING MODULE</a:t>
            </a:r>
            <a:br>
              <a:rPr lang="en-IN" spc="-10" dirty="0">
                <a:solidFill>
                  <a:srgbClr val="FF0066"/>
                </a:solidFill>
              </a:rPr>
            </a:br>
            <a:r>
              <a:rPr lang="en-US" dirty="0">
                <a:solidFill>
                  <a:srgbClr val="CC0066"/>
                </a:solidFill>
              </a:rPr>
              <a:t> </a:t>
            </a:r>
            <a:br>
              <a:rPr lang="en-US" dirty="0"/>
            </a:b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D69C12C-223E-59C6-8D91-2C960E3A717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DD2910-C711-DC03-E206-5A32B883ABDD}"/>
              </a:ext>
            </a:extLst>
          </p:cNvPr>
          <p:cNvSpPr txBox="1"/>
          <p:nvPr/>
        </p:nvSpPr>
        <p:spPr>
          <a:xfrm>
            <a:off x="1371600" y="802580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DEPLOYMENT 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772EB6-36B0-729A-72D1-84DCAA0334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69590" y="1202690"/>
            <a:ext cx="5938619" cy="54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975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4076D4-B6C4-920B-4678-B8D81113E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569B004-08DB-7F26-071D-E005BC92A06D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5A98A65-AC56-AAD5-B0CA-73FCB3B03358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758209A-B658-AA45-64AC-F9970E6D3D5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451DC2FA-BEB4-A03B-8B5A-CA27CE6C7B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 DATA PROCESSING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2F00BFC7-2531-A194-B878-D2B5918E85B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9AD908-01A4-6527-354B-25AACC6495D0}"/>
              </a:ext>
            </a:extLst>
          </p:cNvPr>
          <p:cNvSpPr txBox="1"/>
          <p:nvPr/>
        </p:nvSpPr>
        <p:spPr>
          <a:xfrm>
            <a:off x="1646238" y="1130299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USE CASE DIAGRAM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06A579-C6E9-FDF7-6A34-3D6BAD038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644" y="1852870"/>
            <a:ext cx="6044712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525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D62F2-898E-2121-2647-4290CA945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623E2DA-9D70-D7FA-9E31-BBE9028E2C77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F9384D3-3DF7-DE4D-3B7D-6D1891D534CC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DE75E37-C42D-7860-07C7-FCC17FD3BA3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B3C14806-96AE-19C8-DBA3-9521E8356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 DATA PROCESSING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D8B4CCAE-EBB8-2C86-DFD5-8F3AB73FEAE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A71173-657E-3485-A855-042218878A00}"/>
              </a:ext>
            </a:extLst>
          </p:cNvPr>
          <p:cNvSpPr txBox="1"/>
          <p:nvPr/>
        </p:nvSpPr>
        <p:spPr>
          <a:xfrm>
            <a:off x="1646238" y="10720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CLASS  DIAGRAM</a:t>
            </a:r>
          </a:p>
        </p:txBody>
      </p:sp>
      <p:pic>
        <p:nvPicPr>
          <p:cNvPr id="2052" name="Picture 4" descr="PlantUML diagram">
            <a:extLst>
              <a:ext uri="{FF2B5EF4-FFF2-40B4-BE49-F238E27FC236}">
                <a16:creationId xmlns:a16="http://schemas.microsoft.com/office/drawing/2014/main" id="{840EF11E-9655-18EE-C5FD-DE206E90E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475998"/>
            <a:ext cx="5989002" cy="4805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0006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1A3FA6-A108-FD01-0F37-16C63FD09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FE50EC4-480C-D2D7-BE4A-EF27513704AE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45629EF-191D-35D9-B90B-4F9F8AF9D3A9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7B30408-25A6-D140-A786-B872A14DD32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FD3859F5-34D2-3B98-2636-D542CA17AE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 DATA PROCESSING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9D4ED96-F73F-22C1-CC2A-72EC91F214C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499771-37C0-2B95-D409-B368515DED4F}"/>
              </a:ext>
            </a:extLst>
          </p:cNvPr>
          <p:cNvSpPr txBox="1"/>
          <p:nvPr/>
        </p:nvSpPr>
        <p:spPr>
          <a:xfrm>
            <a:off x="1254124" y="769014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ACTIVITY  DIAGRAM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310E770-29DD-CCFF-646E-EFA6FC9A8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00400" y="1098768"/>
            <a:ext cx="5258009" cy="5466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1883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F6A325-D4D2-A503-1222-C63EDF722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7571406-F501-4D34-54E4-2DD91FE64BDE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A388C99-2876-61EB-3924-5F6AE3850532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C71CA290-304B-63EF-3851-479DC3E97F0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9BAD2C5E-9485-81FD-2062-E117F0778C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 DATA PROCESSING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113A87E3-DB37-D139-F937-8DF9BEEBB00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E49826-F81D-A3EE-C9C8-4FB4A9F1B491}"/>
              </a:ext>
            </a:extLst>
          </p:cNvPr>
          <p:cNvSpPr txBox="1"/>
          <p:nvPr/>
        </p:nvSpPr>
        <p:spPr>
          <a:xfrm>
            <a:off x="1646238" y="10720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SEQUENCE DIAGRAM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FCDFCF6-CA4D-95B2-68CA-FF9DC4566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4745" y="1803272"/>
            <a:ext cx="11745804" cy="371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100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911A1F-4A0A-2D69-A620-691391F50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FEA31B3-B785-181A-D301-509D986441D4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4923BF4-B0CE-33E5-4138-BE9275115141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E248CB08-B9CA-D36E-67C1-687232A7EE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F238764-60AB-AD06-626C-38508DAFA6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 DATA PROCESSING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B38331B5-4B5C-4921-38B8-A125BC07A8F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9004EB-B122-C8F8-01B2-BBD868C62AFF}"/>
              </a:ext>
            </a:extLst>
          </p:cNvPr>
          <p:cNvSpPr txBox="1"/>
          <p:nvPr/>
        </p:nvSpPr>
        <p:spPr>
          <a:xfrm>
            <a:off x="1646238" y="10720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STATE  DIAGRAM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B06738F-9C0D-7C86-7957-97A64409C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57600" y="1475997"/>
            <a:ext cx="5105400" cy="5079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0337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813909F-7382-48B1-7972-F479D0ECD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D9459F2-F3EB-9EAB-CFCD-A90445408318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AFA7457-78D3-B3DB-C1F2-D062CE446BB9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36D90B1F-A29E-05A9-7445-A77EC1399B8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6A8387BD-609A-CA9B-202A-A787F92D81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 DATA PROCESSING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6CFA4115-9472-6AAF-832E-989467F0D50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852CAB-1F16-E743-CA03-60A21B9B7DBD}"/>
              </a:ext>
            </a:extLst>
          </p:cNvPr>
          <p:cNvSpPr txBox="1"/>
          <p:nvPr/>
        </p:nvSpPr>
        <p:spPr>
          <a:xfrm>
            <a:off x="1646238" y="10720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PACKAGE DIAGRAM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3AFF885-0C69-E9F2-67B9-10541113C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05200" y="1472188"/>
            <a:ext cx="5737042" cy="530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2492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E90110-640A-19E7-50FF-347ECA882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3C4C9F6-0E8C-D77F-72A8-822BB825A8E6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2965DEE-C343-0CE1-5C8A-785E0736C9DB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9101BCD-72F7-BF04-55E2-5AF694F226F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610DB306-3604-767E-A95D-35CF47132C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 DATA PROCESSING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B39A8A8C-59B2-2864-3A6F-DF0A4D8FEFC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CE8B7C-B521-5548-5626-A6ADC3BDC2A6}"/>
              </a:ext>
            </a:extLst>
          </p:cNvPr>
          <p:cNvSpPr txBox="1"/>
          <p:nvPr/>
        </p:nvSpPr>
        <p:spPr>
          <a:xfrm>
            <a:off x="1646238" y="10720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DEPLOYMENT DIAGRAM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15EB354-4510-2AEC-4158-E19451BC3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14600" y="1776853"/>
            <a:ext cx="7261042" cy="478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800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CC7CDA2-5284-DE3C-4EF1-C3F6FE297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5FF7834-4DF9-EECD-E49F-0306C74E4769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931D860-4F96-FFB3-FA52-7F6113456047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2FEFB46-7BB2-E9CF-1F62-7405CCDD008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247EDD96-2397-A02F-F666-3300F15E54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 COMMUNICATION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B8F4700D-C64A-2DD9-33C5-20521FD33CF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350C3B-0C61-4554-D4AC-1C3FB5980E73}"/>
              </a:ext>
            </a:extLst>
          </p:cNvPr>
          <p:cNvSpPr txBox="1"/>
          <p:nvPr/>
        </p:nvSpPr>
        <p:spPr>
          <a:xfrm>
            <a:off x="1646238" y="1130299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USE CASE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C9E547-5D1A-F688-B1E3-C147C77ACA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75" y="2018029"/>
            <a:ext cx="809625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055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46990B-104D-59DD-4EA2-976FD762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42DA914-288A-357A-63C2-A476CB612898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3CF9698-CA28-46D2-1FA0-2430F8525B2B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2743B07-4569-125D-475E-31FB85DC88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CD7217E-D73B-594A-766A-C3565E5B0B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 COMMUNICATION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35826E2B-309B-0E11-0DE5-5D5A82BF2AD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2825D0E-3BD7-CF5A-96A0-EFD9EF9B4ABB}"/>
              </a:ext>
            </a:extLst>
          </p:cNvPr>
          <p:cNvSpPr txBox="1"/>
          <p:nvPr/>
        </p:nvSpPr>
        <p:spPr>
          <a:xfrm>
            <a:off x="1646238" y="10720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CLASS  DIAGRAM</a:t>
            </a:r>
          </a:p>
        </p:txBody>
      </p:sp>
      <p:pic>
        <p:nvPicPr>
          <p:cNvPr id="3074" name="Picture 2" descr="PlantUML diagram">
            <a:extLst>
              <a:ext uri="{FF2B5EF4-FFF2-40B4-BE49-F238E27FC236}">
                <a16:creationId xmlns:a16="http://schemas.microsoft.com/office/drawing/2014/main" id="{AE1AA43B-3440-AC14-6E4A-21F75272F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460" y="2209800"/>
            <a:ext cx="650108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4470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BC0D99-7215-8DAD-8C11-A7C13A769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94669DC-3C2A-A361-3E5C-09782826D7CF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8C33423-D6E3-E993-E30C-25354C63F2D8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C20B3CA9-912E-55D2-33A6-3BF50DD135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4530921-17F5-E590-6450-B1D4935FD8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 COMMUNICATION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0C030188-9D44-ED23-4058-3EDC22B0081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5DE0AE-79C1-A733-29CF-307361792428}"/>
              </a:ext>
            </a:extLst>
          </p:cNvPr>
          <p:cNvSpPr txBox="1"/>
          <p:nvPr/>
        </p:nvSpPr>
        <p:spPr>
          <a:xfrm>
            <a:off x="1369062" y="8393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ACTIVITY  DIAGRAM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A636AFC-13B6-7FDB-8445-885B5A514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272648" y="990600"/>
            <a:ext cx="4724400" cy="573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9915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0AA38E-111B-4E54-2FC4-5CBBFCE14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DFBD7DE-A87D-0770-1636-F9A1AA05B7FB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E8AF511-6AFE-736C-96AD-3D47286A3CA6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B1D44F2-1154-95D0-8D8F-23CEF0C2E23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A18FC0B3-A9C3-320C-F6E9-20D6397416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 COMMUNICATION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59F123DE-E47D-A081-DDFF-E2F51A0D4EE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B9B787-F5CC-7F70-3604-E4F4F77BD82F}"/>
              </a:ext>
            </a:extLst>
          </p:cNvPr>
          <p:cNvSpPr txBox="1"/>
          <p:nvPr/>
        </p:nvSpPr>
        <p:spPr>
          <a:xfrm>
            <a:off x="1369062" y="8393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SEQUENCE  DIAGRAM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9AFD390-1E4F-94D8-A53C-1EA3A9CC3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378" y="2429475"/>
            <a:ext cx="11991243" cy="257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79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5754A0-6873-4DD9-37A9-2758800F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978ECEA-4A5C-A190-8717-2D2A44BFAC4B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E536A20-AB35-0181-CE1E-2152EAB82237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EE17388-4F7A-9BE4-BD32-6A46A79DEA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2EEE6CA1-7C70-2EB0-1036-76353E43B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 COMMUNICATION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6448F56-D92C-F1A4-C45B-FD785773578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2F05785-C5D2-C331-A410-E95CBA8D503C}"/>
              </a:ext>
            </a:extLst>
          </p:cNvPr>
          <p:cNvSpPr txBox="1"/>
          <p:nvPr/>
        </p:nvSpPr>
        <p:spPr>
          <a:xfrm>
            <a:off x="1369062" y="8393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STATE  DIAGRAM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217EC0C-DB9E-CF1E-02C8-06D49BA9B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112262" y="1037384"/>
            <a:ext cx="4724400" cy="577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821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168B05-F5F2-7A09-5887-64604418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2DB27C1-78AA-9D39-C753-52F782FDD731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F3422DD-238F-1F60-EFC2-2214860E2CB3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A694C1BD-1A94-2157-AEC6-5E4617CA06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D09A8A4A-D2BA-AD57-12DD-ABD5998B02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 COMMUNICATION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5B5B22A5-FC03-2964-E891-2DA4283E838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D798AA-0922-8E4A-28F5-B04F6D8F337C}"/>
              </a:ext>
            </a:extLst>
          </p:cNvPr>
          <p:cNvSpPr txBox="1"/>
          <p:nvPr/>
        </p:nvSpPr>
        <p:spPr>
          <a:xfrm>
            <a:off x="1369062" y="8393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PACKAGE  DIAGRAM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79C884C-1364-C8B7-A0A3-87D75B22F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17080" y="1153947"/>
            <a:ext cx="5750719" cy="561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257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386A1E-D936-FC6B-AA2D-703B3CEB3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1994AAD-F26E-E958-D50C-198CBA9A3ACB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4BAA953-FEF5-CF7F-6FF8-C91DDDD8DE77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D39188C4-B886-A7CE-4B1E-A5A3538AE2A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94A967F-1FEE-A58D-17EA-B6EAB13B48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 COMMUNICATION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72AFD4F5-A272-1982-007E-3CC73591318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7BFBD0-BA4E-BC15-62B2-D9CA5324CA05}"/>
              </a:ext>
            </a:extLst>
          </p:cNvPr>
          <p:cNvSpPr txBox="1"/>
          <p:nvPr/>
        </p:nvSpPr>
        <p:spPr>
          <a:xfrm>
            <a:off x="1369062" y="8393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DEPLOYMENT  DIAGRAM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BAD2DAA-BBD1-78B5-CD56-607814B3E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1689" y="1493195"/>
            <a:ext cx="11808622" cy="419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723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07CDE95-D647-59DB-B7AD-3ABFDE6DB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B58059A-6440-7F86-4DC0-06B40BC038CF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EC1FAC4-C7A4-2F49-650B-3F44CD801743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DBDBE49D-6CE5-9897-9D20-8B18CBD545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796DA8C2-9DD0-7240-25DA-FC955F6FF6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ALERT &amp;NOTIFICATION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1882C78B-7C79-9040-5DCF-AA86024EB9E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BC8051-2CA4-6DF3-DD34-69E670900CB5}"/>
              </a:ext>
            </a:extLst>
          </p:cNvPr>
          <p:cNvSpPr txBox="1"/>
          <p:nvPr/>
        </p:nvSpPr>
        <p:spPr>
          <a:xfrm>
            <a:off x="1646238" y="1130299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USE CASE DIAGRAM</a:t>
            </a:r>
          </a:p>
        </p:txBody>
      </p:sp>
      <p:pic>
        <p:nvPicPr>
          <p:cNvPr id="4098" name="Picture 2" descr="PlantUML diagram">
            <a:extLst>
              <a:ext uri="{FF2B5EF4-FFF2-40B4-BE49-F238E27FC236}">
                <a16:creationId xmlns:a16="http://schemas.microsoft.com/office/drawing/2014/main" id="{F5845748-72A7-5031-66AF-55C8DBC1A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852870"/>
            <a:ext cx="6796087" cy="426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939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08CD73B-1F2B-179C-8654-ABC85F3A3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305B633-ACB9-55CD-BDEE-966AD8C4879B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6DA9263-45E2-173F-33F7-639C58FCE566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24BF6BF1-D21B-A031-77C9-FC137EDD616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C3EC558-81EF-45CD-41FB-D8FE3057D8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ALERT &amp;NOTIFICATION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E8DC9693-EC41-B25C-7887-C8D7CD771DB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6DC07-A66B-15C3-5F39-780BA4B976A7}"/>
              </a:ext>
            </a:extLst>
          </p:cNvPr>
          <p:cNvSpPr txBox="1"/>
          <p:nvPr/>
        </p:nvSpPr>
        <p:spPr>
          <a:xfrm>
            <a:off x="1646238" y="10720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CLASS  DIAGRAM</a:t>
            </a:r>
          </a:p>
        </p:txBody>
      </p:sp>
      <p:pic>
        <p:nvPicPr>
          <p:cNvPr id="1026" name="Picture 2" descr="PlantUML diagram">
            <a:extLst>
              <a:ext uri="{FF2B5EF4-FFF2-40B4-BE49-F238E27FC236}">
                <a16:creationId xmlns:a16="http://schemas.microsoft.com/office/drawing/2014/main" id="{9283936B-8BF2-FA47-9125-A6F0EE6D8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644333"/>
            <a:ext cx="4690666" cy="4756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8250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85C2F1-F9D5-F79F-6DCB-9A32CC3CF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48033C-6CD0-9BB0-5AF4-301B3A92CA00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615C053-9F0A-7890-A8EB-ACCE59FDCCE6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3E1CB9A-97E6-C10F-C607-14E103A6609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BD28BE9B-C1CA-22B1-24C9-8CDD1D9F4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ALERT &amp;NOTIFICATION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A8A750E3-53B7-4414-B766-B90BCD58809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74EA534-86AF-A567-7ABA-FFC550DA6613}"/>
              </a:ext>
            </a:extLst>
          </p:cNvPr>
          <p:cNvSpPr txBox="1"/>
          <p:nvPr/>
        </p:nvSpPr>
        <p:spPr>
          <a:xfrm>
            <a:off x="1326302" y="748016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ACTIVITY DIAGRAM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4999E4-FDA7-41FC-3EF2-102F276ED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80619" y="1037384"/>
            <a:ext cx="4830762" cy="58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722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220FFD-48D3-DAE1-69D5-8C4987E89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663615B-2799-A034-70B6-2879C6127EE6}"/>
              </a:ext>
            </a:extLst>
          </p:cNvPr>
          <p:cNvSpPr txBox="1"/>
          <p:nvPr/>
        </p:nvSpPr>
        <p:spPr>
          <a:xfrm>
            <a:off x="911225" y="4945380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17D9DAA-79B7-FCA1-FE31-4EB21E5745CC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33835D99-B0CE-9B3C-5691-BF1F86D5800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041D6780-91C9-FF0C-753A-84A647DE3B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ALERT &amp;NOTIFICATION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0C6849-FCAB-396C-B81F-4E80C42085A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2DB6EE-5811-06ED-39D1-7F73A60D918A}"/>
              </a:ext>
            </a:extLst>
          </p:cNvPr>
          <p:cNvSpPr txBox="1"/>
          <p:nvPr/>
        </p:nvSpPr>
        <p:spPr>
          <a:xfrm>
            <a:off x="1371600" y="837329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SEQUENCE DIAGRAM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154F98-BA65-E923-74BB-BB611A9B4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7485" y="2021708"/>
            <a:ext cx="11557029" cy="3440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3618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92D5E9-DE70-52F6-82BA-C48DFB4F9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7732F74-B343-98DB-C9DC-AB37144620B7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283F85F-1F47-FB89-4CE2-D5B7EDF7C875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A4DEE97-3F8B-CDC1-7989-04CD340A8F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9A398222-3BB1-341C-9ACB-46320B3914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ALERT &amp;NOTIFICATION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04EB5364-C171-6809-AC5D-85D2C04B4E6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921291-E084-429E-34FE-0E5254B16363}"/>
              </a:ext>
            </a:extLst>
          </p:cNvPr>
          <p:cNvSpPr txBox="1"/>
          <p:nvPr/>
        </p:nvSpPr>
        <p:spPr>
          <a:xfrm>
            <a:off x="1646238" y="10720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STATE DIAGRAM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6426CC-7807-58CA-6A9E-DF36347BE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03982" y="1287779"/>
            <a:ext cx="4348759" cy="5113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07798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F6B3C5-6136-F065-C32C-7A07AF897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2AA359-FF4C-4D48-5EF0-6694382D89A9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02F1C47-53E9-AAF9-D953-60305DB94854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EE291DA-AC44-5D54-784E-5F4803C7CA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45CD7681-7298-D8D7-C5CE-71D22F1FC0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ALERT &amp;NOTIFICATION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5D1A15AD-77BD-31BD-98D8-84D4CBBA345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A30C6-41A0-87AF-4814-82ACB1002D37}"/>
              </a:ext>
            </a:extLst>
          </p:cNvPr>
          <p:cNvSpPr txBox="1"/>
          <p:nvPr/>
        </p:nvSpPr>
        <p:spPr>
          <a:xfrm>
            <a:off x="1371600" y="837329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PACKAGE DIAGRAM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4DAAFE-EC87-6D14-FCEE-0007CD0AA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12261" y="1209802"/>
            <a:ext cx="8299986" cy="5495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3558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5FDE4DF-7C2B-69FA-2FA1-47DC0B833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27BE14F-84DE-0B78-9740-44479413A3A7}"/>
              </a:ext>
            </a:extLst>
          </p:cNvPr>
          <p:cNvSpPr txBox="1"/>
          <p:nvPr/>
        </p:nvSpPr>
        <p:spPr>
          <a:xfrm>
            <a:off x="911225" y="4945380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2B93D71-2D89-69A8-439F-37AC84A0077A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D96C5CF-0537-622D-ED2B-1BA1C2CB5FB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622DA80B-BA98-EDEC-0329-A6D269912E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ALERT &amp;NOTIFICATION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D989DB58-8C76-26E7-6670-B1E2BA391E6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9B3A7CB-D8C0-ABFC-A767-61928620A43C}"/>
              </a:ext>
            </a:extLst>
          </p:cNvPr>
          <p:cNvSpPr txBox="1"/>
          <p:nvPr/>
        </p:nvSpPr>
        <p:spPr>
          <a:xfrm>
            <a:off x="1371600" y="837329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DEPLOYMENT DIAGRAM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25A69B-88F3-7601-9B19-BF241DCD6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45448" y="1209802"/>
            <a:ext cx="7033611" cy="5495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467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622753-B1C5-BFEF-D9AB-D863893D4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FD947B2-8590-8F79-2E4D-89CCA0544483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32B2C4E-1240-F883-7490-54DD6B131C1D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5F9C30BB-F8F3-21AA-0EE9-0E043B66653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93514FE3-0557-D49F-230A-5778052192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DATA VISUALIZATION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0EC551E4-A432-F6B6-50AE-B16A59D89CF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3E7266-34CA-EF98-84D6-66AE5E9009DA}"/>
              </a:ext>
            </a:extLst>
          </p:cNvPr>
          <p:cNvSpPr txBox="1"/>
          <p:nvPr/>
        </p:nvSpPr>
        <p:spPr>
          <a:xfrm>
            <a:off x="1646238" y="1130299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USE CASE DIAGRAM</a:t>
            </a:r>
          </a:p>
        </p:txBody>
      </p:sp>
      <p:pic>
        <p:nvPicPr>
          <p:cNvPr id="5122" name="Picture 2" descr="PlantUML diagram">
            <a:extLst>
              <a:ext uri="{FF2B5EF4-FFF2-40B4-BE49-F238E27FC236}">
                <a16:creationId xmlns:a16="http://schemas.microsoft.com/office/drawing/2014/main" id="{C4B59989-61AB-D428-04BB-013DED668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642" y="1752600"/>
            <a:ext cx="5143500" cy="436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75961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949618-1E38-E092-E28E-470A14639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3F930BC-92AF-5885-5103-7D39D87E5A1E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27B1491-0D0D-288D-BA55-E65D8CDF9022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53A0600-8CF6-83A5-A2B0-D6A896163F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AC1A2A62-7B3A-83AE-22DB-AA5A73BD31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DATA VISUALIZATION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F25C4763-1EC4-73ED-3735-BE1FEA6C150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7481FE-7FDD-73D8-46FD-C409CD302EFD}"/>
              </a:ext>
            </a:extLst>
          </p:cNvPr>
          <p:cNvSpPr txBox="1"/>
          <p:nvPr/>
        </p:nvSpPr>
        <p:spPr>
          <a:xfrm>
            <a:off x="1646238" y="10720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CLASS  DIAGRAM</a:t>
            </a:r>
          </a:p>
        </p:txBody>
      </p:sp>
      <p:pic>
        <p:nvPicPr>
          <p:cNvPr id="3078" name="Picture 6" descr="PlantUML diagram">
            <a:extLst>
              <a:ext uri="{FF2B5EF4-FFF2-40B4-BE49-F238E27FC236}">
                <a16:creationId xmlns:a16="http://schemas.microsoft.com/office/drawing/2014/main" id="{D34DCBCA-2938-DEE7-67C7-52C61B490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9688" y="1676400"/>
            <a:ext cx="8286750" cy="4271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0368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522F7-1A17-95FA-5058-BBF2471B0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9891056-2FE9-70DE-192B-3F05483C639E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D4D1A36-7FE5-F032-BB28-AE46AD68ED50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0E93A0E-409C-0999-88A5-43464F1A94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DA52F240-908D-749D-4BCD-03CAFCF5E6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DATA VISUALIZATION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A72915B4-4F31-79D9-6DF6-F70CCB60B47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CD81D8-9FC5-4532-4335-60367EF05556}"/>
              </a:ext>
            </a:extLst>
          </p:cNvPr>
          <p:cNvSpPr txBox="1"/>
          <p:nvPr/>
        </p:nvSpPr>
        <p:spPr>
          <a:xfrm>
            <a:off x="1371600" y="769014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ACTIVITY DIAGRAM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8D9BC67D-86A9-591D-3B2E-75B0F1ABD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68086" y="1100129"/>
            <a:ext cx="5055828" cy="5739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01295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A79EFF-D4E5-2D44-7C17-677453BA2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7E1C61D-C38C-7497-8149-43BFAC93A128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F997A21-7B67-1B70-EE4D-0F70E926E3F6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22AEF1B8-5A1E-3470-F27A-6CB732AA061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A25043CB-8346-F398-3269-24FA4D2D2E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DATA VISUALIZATION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86C43516-AE37-3290-F73E-AF0096E9286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E4939F-0984-B851-6798-0DF3CA0E4DED}"/>
              </a:ext>
            </a:extLst>
          </p:cNvPr>
          <p:cNvSpPr txBox="1"/>
          <p:nvPr/>
        </p:nvSpPr>
        <p:spPr>
          <a:xfrm>
            <a:off x="1447800" y="880869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SEQUENCE DIAGRAM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1F5AEB8F-1101-C05A-98BF-599789811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48011" y="1303562"/>
            <a:ext cx="10061575" cy="542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8263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C92153-7891-554A-18F8-C2E1A1486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52C41DF-6FD7-BE26-A964-41E7DED506F2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A9AA4BD-73A6-1D01-5354-83E87D21FC38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F4EE92B-1956-C164-349A-D0E0C6CA090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EDE744A4-9811-3A23-5488-3E09E63E2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DATA VISUALIZATION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B7A217C6-BCFD-59E5-09D9-F38E0DA2B16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A4D830-FD41-C214-84C1-398B6FF80431}"/>
              </a:ext>
            </a:extLst>
          </p:cNvPr>
          <p:cNvSpPr txBox="1"/>
          <p:nvPr/>
        </p:nvSpPr>
        <p:spPr>
          <a:xfrm>
            <a:off x="1646238" y="10720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STATE DIAGRAM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46B1824F-A281-6BFA-CA1F-A869EEBD9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54934" y="1556792"/>
            <a:ext cx="9717958" cy="478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76719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C8F3098-880B-5C2C-6F20-0366332AE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872232C-AC31-08D1-59B1-249E259EAB30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E93115D-E8CB-7B94-D31C-54E6F46BA461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C4EE8DF6-9B4F-E6C7-7EC2-99DDD60574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8090858F-DCC4-CEB0-1F6E-2697C882EE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DATA VISUALIZATION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7A903E05-C9BA-AC7F-D2AB-3A3BC3E5F20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766FA4-C692-41AD-020E-AE803042A2BA}"/>
              </a:ext>
            </a:extLst>
          </p:cNvPr>
          <p:cNvSpPr txBox="1"/>
          <p:nvPr/>
        </p:nvSpPr>
        <p:spPr>
          <a:xfrm>
            <a:off x="1447800" y="880869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PACKAGE DIAGRAM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96C68E8A-69EF-0479-1B54-C98F1A9F8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272648" y="966439"/>
            <a:ext cx="5107713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0796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9F77E6-444A-F530-7530-527DB0D7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DB72841-2CBF-A8A6-A2C8-17B4401BBBC9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1D5FF46-5782-872F-15EC-B8708C842E0A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D2DE5111-4831-03A6-9EE0-3A281E89CCA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2DEB058D-2E56-5F55-0170-9A3BAA556D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DATA VISUALIZATION MODULE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AA359E86-0EDC-FE2B-56D5-9FDFF22E23C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4219FA9-7FC9-6E0A-31E9-E27CC98D188C}"/>
              </a:ext>
            </a:extLst>
          </p:cNvPr>
          <p:cNvSpPr txBox="1"/>
          <p:nvPr/>
        </p:nvSpPr>
        <p:spPr>
          <a:xfrm>
            <a:off x="1447800" y="880869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DEPLOYMENT DIAGRAM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22DBE7E3-D674-A902-C8B8-37E4D0FCF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91535" y="1524000"/>
            <a:ext cx="7457595" cy="4832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8241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BD61C8-C4F9-79F1-040C-8F59FB101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4D28562-290E-734A-530D-9D7AE4522002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8A76CE4-2785-5E55-0E6A-8F078023C1A7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EE41FD1-6E3E-3F64-1D17-0663BAF993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1707EFA7-C378-31B7-3C3B-CBAE9B1DF2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2523" y="349028"/>
            <a:ext cx="97567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PREDICTION AND CONTEXT AWARNESS MODULE 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B54D1F02-F3C5-DA54-6AFE-FF9C0994713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4F1ED4-DABD-2246-CDBD-7E63C55FAE02}"/>
              </a:ext>
            </a:extLst>
          </p:cNvPr>
          <p:cNvSpPr txBox="1"/>
          <p:nvPr/>
        </p:nvSpPr>
        <p:spPr>
          <a:xfrm>
            <a:off x="1646238" y="1130299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USE CASE DIAGRAM</a:t>
            </a:r>
          </a:p>
        </p:txBody>
      </p:sp>
      <p:pic>
        <p:nvPicPr>
          <p:cNvPr id="6146" name="Picture 2" descr="PlantUML diagram">
            <a:extLst>
              <a:ext uri="{FF2B5EF4-FFF2-40B4-BE49-F238E27FC236}">
                <a16:creationId xmlns:a16="http://schemas.microsoft.com/office/drawing/2014/main" id="{123DE3A1-5F7E-0EF3-4794-4959ED617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4" y="1785938"/>
            <a:ext cx="7972425" cy="431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9023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A82CCB-00D4-491B-6BCA-20B7A2486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BC54AC9-0DF1-6A94-E7E4-11FC5C89B903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7424B13-40E7-CFCD-0E63-36B358DDD51B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2922E3A1-8E01-9D8B-BD2E-B9000BE873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8C1DED09-2245-30F7-01BF-C34102E200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7567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PREDICTION AND CONTEXT AWARNESS MODULE 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792FF9C6-B7F0-9D6C-BB7C-2F279E35338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0FFE55-31B2-2D1E-C4AB-5E8DEA9F65C6}"/>
              </a:ext>
            </a:extLst>
          </p:cNvPr>
          <p:cNvSpPr txBox="1"/>
          <p:nvPr/>
        </p:nvSpPr>
        <p:spPr>
          <a:xfrm>
            <a:off x="1646238" y="10720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CLASS  DIAGRAM</a:t>
            </a:r>
          </a:p>
        </p:txBody>
      </p:sp>
      <p:pic>
        <p:nvPicPr>
          <p:cNvPr id="7170" name="Picture 2" descr="PlantUML diagram">
            <a:extLst>
              <a:ext uri="{FF2B5EF4-FFF2-40B4-BE49-F238E27FC236}">
                <a16:creationId xmlns:a16="http://schemas.microsoft.com/office/drawing/2014/main" id="{EFF0F9A2-CB1C-494A-0C1F-D8A047243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1600200"/>
            <a:ext cx="7924800" cy="4833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9760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DE33574-C8CC-6A75-3D0D-C21DAD620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9145C20-D210-FB7A-336F-77F39C9483DD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4427250-3983-349A-0866-3503326466E6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A2274648-74E7-2EDC-A2FE-E69EC9E457F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30F8A9F1-B851-3DE8-1FB5-6943E0C3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7567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PREDICTION AND CONTEXT AWARNESS MODULE 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7CA49723-8778-A591-3440-E9ADC284987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A5C5FB-916C-E743-F7A4-28AC4199FF23}"/>
              </a:ext>
            </a:extLst>
          </p:cNvPr>
          <p:cNvSpPr txBox="1"/>
          <p:nvPr/>
        </p:nvSpPr>
        <p:spPr>
          <a:xfrm>
            <a:off x="1290910" y="749216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ACTIVITY  DIAGRAM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D66F0B4-7EE7-CA6D-EBFA-1A95365CF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17130" y="1037384"/>
            <a:ext cx="4291829" cy="5820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49435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46971B8-3E44-B8F9-3F23-A95F3095B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BF5B5C8-2561-C41B-9BAD-5C81E69B1B4A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4BBA371-D2A5-96CB-D0D3-C5E3662E312D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E645AA9-46EE-0748-0965-E65F19F58F8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DFF0F472-DFB5-54B7-07CA-0D8CFD6BF7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7567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PREDICTION AND CONTEXT AWARNESS MODULE 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60F10913-D1C6-C144-EEC8-AB696DB2AD2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E8893C-4CBA-EFC7-2480-A121B5AECCA2}"/>
              </a:ext>
            </a:extLst>
          </p:cNvPr>
          <p:cNvSpPr txBox="1"/>
          <p:nvPr/>
        </p:nvSpPr>
        <p:spPr>
          <a:xfrm>
            <a:off x="1328709" y="863539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SEQUENCE  DIAGRAM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E0E1A2F-F84C-EF3D-6E10-58F7EDFC7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28" y="1872060"/>
            <a:ext cx="12187072" cy="343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9458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B4F6733-B231-AAE4-80F3-FAB4FF935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D7E980D-B176-39BE-B4EA-7C935C1924F8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8DA2715-A336-5F52-B0C2-E21BDC3BA49E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2A8CD3E-ACB8-1BE9-5B68-0297A974DCA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198CAB3E-87A5-E921-8E38-7465954B27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7567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PREDICTION AND CONTEXT AWARNESS MODULE 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5C80FB8-2029-F4CB-FBFA-AC4B1D1C003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C194B2E-7CF3-0A7E-B84C-1E5B4936F603}"/>
              </a:ext>
            </a:extLst>
          </p:cNvPr>
          <p:cNvSpPr txBox="1"/>
          <p:nvPr/>
        </p:nvSpPr>
        <p:spPr>
          <a:xfrm>
            <a:off x="1646238" y="10720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STATE  DIAGRAM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7E6645E-EFF7-2250-3D8D-2E67FC644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89438" y="1072078"/>
            <a:ext cx="3659215" cy="571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2515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B7529B-78A8-AEF1-6F2E-C02362E89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6ED6018-F251-0AC3-AAAC-B34F7B24F8D1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2017479-D4EA-80DE-2955-70DE3002C20D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E35A1408-7450-C869-07FF-2D5CA01649C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026A3F6-F461-08F9-5798-991D4A1451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7567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PREDICTION AND CONTEXT AWARNESS MODULE 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32920B86-7D01-28D6-EEDF-4CC118BC2A4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044836-9BCF-66FB-2385-117BEC46EA2B}"/>
              </a:ext>
            </a:extLst>
          </p:cNvPr>
          <p:cNvSpPr txBox="1"/>
          <p:nvPr/>
        </p:nvSpPr>
        <p:spPr>
          <a:xfrm>
            <a:off x="1328709" y="863539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PACKAGE  DIAGRAM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0952BF8-6541-EB6F-A57F-89A4182C4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55340" y="1191265"/>
            <a:ext cx="5481322" cy="570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38961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C686683-1334-C64C-0E1B-25A12055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AE6988F-765D-8B6C-DC09-FD06EE7A997D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704DCD0-1623-0787-30AE-C336D391CAF9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596F5AB-F1DC-B9FF-8EE2-2C20CE749A9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EAF01070-8AF8-6D82-0C22-1F158EFE1E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7567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PREDICTION AND CONTEXT AWARNESS MODULE 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8B2DB874-3EE6-668D-B0D6-D3963A66448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035D6C-FFDB-A7C7-879F-D119CB07F0BC}"/>
              </a:ext>
            </a:extLst>
          </p:cNvPr>
          <p:cNvSpPr txBox="1"/>
          <p:nvPr/>
        </p:nvSpPr>
        <p:spPr>
          <a:xfrm>
            <a:off x="1328709" y="863539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DEPLOYMENT  DIAGRAM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8CF4B19-9B1E-D148-1C76-F14589E25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38400" y="1344532"/>
            <a:ext cx="7925435" cy="501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8012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2E01BAC-B0E6-8C1A-C23F-62ED15231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3D0EAB3-0B72-1DBD-0B60-A543FDD75132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57CD7C2-4231-7D32-3281-CAB995F0D6F1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9D1EF34-6A7B-DB47-DF7A-9B693531D54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B8D7BBDD-8E33-B734-AECD-552F5C6088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822811"/>
            <a:ext cx="97567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pc="-10" dirty="0">
                <a:solidFill>
                  <a:srgbClr val="FF0066"/>
                </a:solidFill>
              </a:rPr>
              <a:t> CONCLUSION</a:t>
            </a:r>
            <a:endParaRPr lang="en-IN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2739DA52-D61F-09AB-A446-85691B7C23B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B70F49-0F26-DF68-E55E-BFDD5259A994}"/>
              </a:ext>
            </a:extLst>
          </p:cNvPr>
          <p:cNvSpPr txBox="1"/>
          <p:nvPr/>
        </p:nvSpPr>
        <p:spPr>
          <a:xfrm>
            <a:off x="1646238" y="10720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ACFEB1-736E-4E32-7B31-DFD7ACB31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24" y="2010064"/>
            <a:ext cx="10668001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>
                <a:latin typeface=" TIMES NEW ROMAN"/>
              </a:rPr>
              <a:t>	The Smart Healthcare Monitoring System enables real-time monitoring, ensuring timely interventions and enhanced patient safety. It processes raw sensor data into accurate, actionable health information for informed decision-making. Prompt alerts and notifications allow doctors and caretaker  to respond quickly during emergencies. 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 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52889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6568" y="2476089"/>
            <a:ext cx="541083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THANK</a:t>
            </a:r>
            <a:r>
              <a:rPr sz="4400" spc="-130" dirty="0"/>
              <a:t> </a:t>
            </a:r>
            <a:r>
              <a:rPr sz="4400" dirty="0"/>
              <a:t>YOU</a:t>
            </a:r>
            <a:r>
              <a:rPr sz="4400" spc="-130" dirty="0"/>
              <a:t> </a:t>
            </a:r>
            <a:r>
              <a:rPr sz="4400" spc="-20" dirty="0"/>
              <a:t>!!!!</a:t>
            </a:r>
            <a:endParaRPr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</TotalTime>
  <Words>673</Words>
  <Application>Microsoft Office PowerPoint</Application>
  <PresentationFormat>Widescreen</PresentationFormat>
  <Paragraphs>140</Paragraphs>
  <Slides>50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 TIMES NEW ROMAN</vt:lpstr>
      <vt:lpstr>Arial</vt:lpstr>
      <vt:lpstr>Calibri</vt:lpstr>
      <vt:lpstr>Times New Roman</vt:lpstr>
      <vt:lpstr>Wingdings</vt:lpstr>
      <vt:lpstr>Office Theme</vt:lpstr>
      <vt:lpstr>K.RAMAKRISHNAN COLLEGE OF TECHNOLOGY (AUTONOMOUS), TRICHY.</vt:lpstr>
      <vt:lpstr>INTRODUCTION </vt:lpstr>
      <vt:lpstr> EXISTING SYSTEM</vt:lpstr>
      <vt:lpstr>PROPOSED SYSTEM   </vt:lpstr>
      <vt:lpstr>PROPOSED SYSTEM   </vt:lpstr>
      <vt:lpstr>MODULES OF THE PROJECTS</vt:lpstr>
      <vt:lpstr>PATIENT MONITORING MODULE   </vt:lpstr>
      <vt:lpstr>PATIENT MONITORING MODULE   </vt:lpstr>
      <vt:lpstr>PATIENT MONITORING MODULE   </vt:lpstr>
      <vt:lpstr>PATIENT MONITORING MODULE   </vt:lpstr>
      <vt:lpstr>PATIENT MONITORING MODULE   </vt:lpstr>
      <vt:lpstr>PATIENT MONITORING MODULE   </vt:lpstr>
      <vt:lpstr>PATIENT MONITORING MODULE   </vt:lpstr>
      <vt:lpstr>  DATA PROCESSING MODULE</vt:lpstr>
      <vt:lpstr>  DATA PROCESSING MODULE</vt:lpstr>
      <vt:lpstr>  DATA PROCESSING MODULE</vt:lpstr>
      <vt:lpstr>  DATA PROCESSING MODULE</vt:lpstr>
      <vt:lpstr>  DATA PROCESSING MODULE</vt:lpstr>
      <vt:lpstr>  DATA PROCESSING MODULE</vt:lpstr>
      <vt:lpstr>  DATA PROCESSING MODULE</vt:lpstr>
      <vt:lpstr>  COMMUNICATION MODULE</vt:lpstr>
      <vt:lpstr>  COMMUNICATION MODULE</vt:lpstr>
      <vt:lpstr>  COMMUNICATION MODULE</vt:lpstr>
      <vt:lpstr>  COMMUNICATION MODULE</vt:lpstr>
      <vt:lpstr>  COMMUNICATION MODULE</vt:lpstr>
      <vt:lpstr>  COMMUNICATION MODULE</vt:lpstr>
      <vt:lpstr>  COMMUNICATION MODULE</vt:lpstr>
      <vt:lpstr> ALERT &amp;NOTIFICATION MODULE</vt:lpstr>
      <vt:lpstr> ALERT &amp;NOTIFICATION MODULE</vt:lpstr>
      <vt:lpstr> ALERT &amp;NOTIFICATION MODULE</vt:lpstr>
      <vt:lpstr> ALERT &amp;NOTIFICATION MODULE</vt:lpstr>
      <vt:lpstr> ALERT &amp;NOTIFICATION MODULE</vt:lpstr>
      <vt:lpstr> ALERT &amp;NOTIFICATION MODULE</vt:lpstr>
      <vt:lpstr> ALERT &amp;NOTIFICATION MODULE</vt:lpstr>
      <vt:lpstr> DATA VISUALIZATION MODULE</vt:lpstr>
      <vt:lpstr> DATA VISUALIZATION MODULE</vt:lpstr>
      <vt:lpstr> DATA VISUALIZATION MODULE</vt:lpstr>
      <vt:lpstr> DATA VISUALIZATION MODULE</vt:lpstr>
      <vt:lpstr> DATA VISUALIZATION MODULE</vt:lpstr>
      <vt:lpstr> DATA VISUALIZATION MODULE</vt:lpstr>
      <vt:lpstr> DATA VISUALIZATION MODULE</vt:lpstr>
      <vt:lpstr> PREDICTION AND CONTEXT AWARNESS MODULE </vt:lpstr>
      <vt:lpstr> PREDICTION AND CONTEXT AWARNESS MODULE </vt:lpstr>
      <vt:lpstr> PREDICTION AND CONTEXT AWARNESS MODULE </vt:lpstr>
      <vt:lpstr> PREDICTION AND CONTEXT AWARNESS MODULE </vt:lpstr>
      <vt:lpstr> PREDICTION AND CONTEXT AWARNESS MODULE </vt:lpstr>
      <vt:lpstr> PREDICTION AND CONTEXT AWARNESS MODULE </vt:lpstr>
      <vt:lpstr> PREDICTION AND CONTEXT AWARNESS MODULE </vt:lpstr>
      <vt:lpstr> CONCLUSION</vt:lpstr>
      <vt:lpstr>THANK YOU 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K.RAMAKRISHNAN COLLEGE OF TECHNOLOGY (AUTONOMOUS), TRICHY.</dc:title>
  <dc:creator>bhavadharani appavu</dc:creator>
  <cp:lastModifiedBy>Vaishali kanda samy</cp:lastModifiedBy>
  <cp:revision>14</cp:revision>
  <dcterms:created xsi:type="dcterms:W3CDTF">2025-03-02T08:49:00Z</dcterms:created>
  <dcterms:modified xsi:type="dcterms:W3CDTF">2025-11-11T10:49:04Z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2025-03-02T11:00:00Z</vt:filetime>
  </property>
  <property fmtid="{D5CDD505-2E9C-101B-9397-08002B2CF9AE}" pid="3" name="Creator">
    <vt:lpwstr>Google</vt:lpwstr>
  </property>
  <property fmtid="{D5CDD505-2E9C-101B-9397-08002B2CF9AE}" pid="4" name="LastSaved">
    <vt:filetime>2025-03-02T11:00:00Z</vt:filetime>
  </property>
  <property fmtid="{D5CDD505-2E9C-101B-9397-08002B2CF9AE}" pid="5" name="ICV">
    <vt:lpwstr>F1144ED021524376B4DEB1A8628C065D_13</vt:lpwstr>
  </property>
  <property fmtid="{D5CDD505-2E9C-101B-9397-08002B2CF9AE}" pid="6" name="KSOProductBuildVer">
    <vt:lpwstr>1033-12.2.0.20323</vt:lpwstr>
  </property>
</Properties>
</file>